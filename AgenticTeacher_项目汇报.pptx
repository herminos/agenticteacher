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20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AgenticTeacher · 本地 Agent / 服务端 RAG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973568" y="-475488"/>
            <a:ext cx="4434840" cy="4434840"/>
          </a:xfrm>
          <a:prstGeom prst="arc">
            <a:avLst/>
          </a:prstGeom>
          <a:solidFill>
            <a:srgbClr val="35D0E5">
              <a:alpha val="0"/>
            </a:srgbClr>
          </a:solidFill>
          <a:ln w="27940">
            <a:solidFill>
              <a:srgbClr val="35D0E5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732520" y="201168"/>
            <a:ext cx="3063240" cy="3063240"/>
          </a:xfrm>
          <a:prstGeom prst="arc">
            <a:avLst/>
          </a:prstGeom>
          <a:solidFill>
            <a:srgbClr val="4C8DFF">
              <a:alpha val="0"/>
            </a:srgbClr>
          </a:solidFill>
          <a:ln w="50800">
            <a:solidFill>
              <a:srgbClr val="4C8DFF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914400"/>
            <a:ext cx="137160" cy="13716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1048" y="1618488"/>
            <a:ext cx="137160" cy="13716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50224" y="2304288"/>
            <a:ext cx="137160" cy="13716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4976" y="2944368"/>
            <a:ext cx="137160" cy="13716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93268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RAG · INTELLIGENT TUTORING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" y="14081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AgenticTeacher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30428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理工科 Agentic RAG 智能教学系统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2880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本地决策 · 服务端算力 · 教材可追溯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LangGraph.js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66944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 / CUDA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5989320"/>
            <a:ext cx="10835640" cy="0"/>
          </a:xfrm>
          <a:prstGeom prst="line">
            <a:avLst/>
          </a:prstGeom>
          <a:noFill/>
          <a:ln w="10160">
            <a:solidFill>
              <a:srgbClr val="294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153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项目技术汇报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项目定位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让教材知识真正进入模型回答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面向微积分、线性代数、大学物理、化学与编程算法的可追溯智能答疑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73152" cy="9875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资料复杂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84832" y="189280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PPT / Markdown 中包含公式、图表与跨页语义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3008376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8376"/>
            <a:ext cx="73152" cy="987552"/>
          </a:xfrm>
          <a:prstGeom prst="rect">
            <a:avLst/>
          </a:prstGeom>
          <a:solidFill>
            <a:srgbClr val="FF6B7D"/>
          </a:solidFill>
          <a:ln w="12700">
            <a:solidFill>
              <a:srgbClr val="FF6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一次检索不够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84832" y="311810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口语问题、术语歧义和知识缺口需要动态反思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4233672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33672"/>
            <a:ext cx="73152" cy="987552"/>
          </a:xfrm>
          <a:prstGeom prst="rect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回答必须可信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84832" y="43434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来源、过程、耗时可见；无证据时明确告知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783080"/>
            <a:ext cx="5742432" cy="3438144"/>
          </a:xfrm>
          <a:prstGeom prst="roundRect">
            <a:avLst>
              <a:gd name="adj" fmla="val 2128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205740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066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核心解法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71616" y="2587752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决定“下一步做什么”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决定“依据什么回答”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080760" y="3730752"/>
            <a:ext cx="4828032" cy="0"/>
          </a:xfrm>
          <a:prstGeom prst="line">
            <a:avLst/>
          </a:prstGeom>
          <a:noFill/>
          <a:ln w="12700">
            <a:solidFill>
              <a:srgbClr val="294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400507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浏览器运行可开源 Agent；模型推理、索引、检索与资源限制由服务端执行。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技术选型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成熟框架组合，边界清晰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决策层保持轻量开放；算力与数据能力集中在可信服务端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前端决策层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626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9077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Next.js 14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14984" y="31638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 Router / UI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5935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TypeScript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1014984" y="38496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端到端类型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2793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LangGraph.js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1014984" y="45354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Agent 编排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22960" y="50200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9651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KaTeX + Markdown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014984" y="5221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公式与富文本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547872" y="1719072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3075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高算力服务层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29626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1064" y="29077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Uvicorn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3941064" y="31638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版本化 API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749040" y="36484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35935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PyTorch / CUDA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3941064" y="38496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RTX 5070 Ti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749040" y="43342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42793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3941064" y="45354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Embedding + Reranker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3749040" y="50200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41064" y="49651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Sympy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3941064" y="5221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受控符号计算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73952" y="1719072"/>
            <a:ext cx="2331720" cy="4224528"/>
          </a:xfrm>
          <a:prstGeom prst="roundRect">
            <a:avLst>
              <a:gd name="adj" fmla="val 313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56832" y="23408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检索存储层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675120" y="29626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67144" y="29077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6867144" y="31638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 RAG 编排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675120" y="36484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67144" y="35935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6867144" y="38496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向量后端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675120" y="43342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67144" y="4279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KV + Graph</a:t>
            </a:r>
            <a:endParaRPr lang="en-US" sz="1130" dirty="0"/>
          </a:p>
        </p:txBody>
      </p:sp>
      <p:sp>
        <p:nvSpPr>
          <p:cNvPr id="49" name="Text 47"/>
          <p:cNvSpPr/>
          <p:nvPr/>
        </p:nvSpPr>
        <p:spPr>
          <a:xfrm>
            <a:off x="6867144" y="45354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状态与图谱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675120" y="50200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49651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Parent–Child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6867144" y="52212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语义完整性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942832" y="1719072"/>
            <a:ext cx="2606040" cy="4224528"/>
          </a:xfrm>
          <a:prstGeom prst="roundRect">
            <a:avLst>
              <a:gd name="adj" fmla="val 28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2571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2571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25712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云端模型层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0" y="29626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36024" y="29077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</a:t>
            </a:r>
            <a:endParaRPr lang="en-US" sz="1130" dirty="0"/>
          </a:p>
        </p:txBody>
      </p:sp>
      <p:sp>
        <p:nvSpPr>
          <p:cNvPr id="59" name="Text 57"/>
          <p:cNvSpPr/>
          <p:nvPr/>
        </p:nvSpPr>
        <p:spPr>
          <a:xfrm>
            <a:off x="9336024" y="31638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OpenAI-compatible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144000" y="36484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36024" y="35935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</a:t>
            </a:r>
            <a:endParaRPr lang="en-US" sz="1130" dirty="0"/>
          </a:p>
        </p:txBody>
      </p:sp>
      <p:sp>
        <p:nvSpPr>
          <p:cNvPr id="62" name="Text 60"/>
          <p:cNvSpPr/>
          <p:nvPr/>
        </p:nvSpPr>
        <p:spPr>
          <a:xfrm>
            <a:off x="9336024" y="3849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DashScope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9144000" y="43342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36024" y="42793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</a:t>
            </a:r>
            <a:endParaRPr lang="en-US" sz="1130" dirty="0"/>
          </a:p>
        </p:txBody>
      </p:sp>
      <p:sp>
        <p:nvSpPr>
          <p:cNvPr id="65" name="Text 63"/>
          <p:cNvSpPr/>
          <p:nvPr/>
        </p:nvSpPr>
        <p:spPr>
          <a:xfrm>
            <a:off x="9336024" y="45354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可插拔 Provider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9144000" y="50200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36024" y="49651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</a:t>
            </a:r>
            <a:endParaRPr lang="en-US" sz="1130" dirty="0"/>
          </a:p>
        </p:txBody>
      </p:sp>
      <p:sp>
        <p:nvSpPr>
          <p:cNvPr id="68" name="Text 66"/>
          <p:cNvSpPr/>
          <p:nvPr/>
        </p:nvSpPr>
        <p:spPr>
          <a:xfrm>
            <a:off x="9336024" y="52212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流式生成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总体架构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客户端决策，服务端执行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可本地开源替换；凭证、模型、RAG 数据与配额始终留在服务端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78992" y="1700784"/>
            <a:ext cx="10058400" cy="1060704"/>
          </a:xfrm>
          <a:prstGeom prst="roundRect">
            <a:avLst>
              <a:gd name="adj" fmla="val 689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700784"/>
            <a:ext cx="82296" cy="1060704"/>
          </a:xfrm>
          <a:prstGeom prst="rect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1865376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874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 / BROWSER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82112" y="1837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Next.js + LangGraph.js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82112" y="2203704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· Rewrite 调度 · 三轮循环 · Trace / Sources · Markdown / LaTeX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078992" y="3072384"/>
            <a:ext cx="10058400" cy="1353312"/>
          </a:xfrm>
          <a:prstGeom prst="roundRect">
            <a:avLst>
              <a:gd name="adj" fmla="val 5405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3072384"/>
            <a:ext cx="82296" cy="1353312"/>
          </a:xfrm>
          <a:prstGeom prst="rect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9032" y="3236976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24612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TRUSTED SERVICE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82112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/v1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82112" y="3575304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 Adapter  ｜  LightRAG Service  ｜  Qwen3 CUDA  ｜  Sympy  ｜  Files / Index  ｜  Usage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78992" y="475488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4754880"/>
            <a:ext cx="82296" cy="100584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9032" y="4919472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9032" y="4928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&amp; MODEL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82112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持久化与外部能力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82112" y="525780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 + KV / Graph Volumes        DeepSeek / Qwen / OpenAI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080760" y="2770632"/>
            <a:ext cx="0" cy="274320"/>
          </a:xfrm>
          <a:prstGeom prst="line">
            <a:avLst/>
          </a:prstGeom>
          <a:noFill/>
          <a:ln w="22860">
            <a:solidFill>
              <a:srgbClr val="35D0E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0760" y="4434840"/>
            <a:ext cx="0" cy="292608"/>
          </a:xfrm>
          <a:prstGeom prst="line">
            <a:avLst/>
          </a:prstGeom>
          <a:noFill/>
          <a:ln w="2286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28192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/ SSE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81928" y="4462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 / 推理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AGENTIC RAG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不是“一次搜索”，而是受控反思循环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 Retrieve + Grade 计为一次尝试；客户端编排，服务端对最多 3 次执行硬限制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7607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意图路由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4767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REWRITE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45059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学术化查询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2219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RETRIEVE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32511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混合召回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9671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RERANK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9963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 精排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B293D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07415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证据充分性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7552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867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94867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回答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05088" y="3035808"/>
            <a:ext cx="0" cy="1051560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05088" y="4087368"/>
            <a:ext cx="-5605272" cy="0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99816" y="4087368"/>
            <a:ext cx="0" cy="-1033272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17720" y="3895344"/>
            <a:ext cx="261518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9044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 → 带知识缺口重写查询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3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76809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服务端硬限制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9008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981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Top-16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309981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子块初始召回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2180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Top-4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543153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Reranker 最终子块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5352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325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1–4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776325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去重完整父块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85248" y="469087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94976" y="4882896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无理想证据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94976" y="52303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明确告知 + 世界知识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父子块机制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小块负责“找得准”，父块负责“讲得全”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解决公式块与定义块被切断、单独公式难以召回、上下文不完整的问题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733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58568"/>
            <a:ext cx="384048" cy="384048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16736" y="218541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教材小节 → 父块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249631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标题 / 段落 / 页面边界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父块上限约 8192 字符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58368" y="324612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47288"/>
            <a:ext cx="384048" cy="384048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337413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 → 子块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16736" y="36850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 512 字符；保留稳定的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child_id → parent_id 映射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443484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636008"/>
            <a:ext cx="384048" cy="384048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16736" y="456285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仅子块向量化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16736" y="48737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Qwen3-Embedding-0.6B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 LightRAG / Qdrant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084832" y="301752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84832" y="420624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13632" y="1682496"/>
            <a:ext cx="0" cy="4096512"/>
          </a:xfrm>
          <a:prstGeom prst="line">
            <a:avLst/>
          </a:prstGeom>
          <a:noFill/>
          <a:ln w="12700">
            <a:solidFill>
              <a:srgbClr val="2941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166420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16733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15968" y="205740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2258568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218541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查询子块向量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74336" y="24963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 hybrid / naive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初始召回 Top-16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315968" y="324612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447288"/>
            <a:ext cx="384048" cy="384048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4336" y="337413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重排子块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74336" y="36850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Qwen3-Reranker-0.6B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固定选择前 4 个子块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4315968" y="443484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2272" y="4636008"/>
            <a:ext cx="384048" cy="384048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74336" y="45628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回溯完整父块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74336" y="487375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parent_id 映射、去重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最终得到 1–4 个父块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724144" y="301752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24144" y="420624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71232" y="1664208"/>
            <a:ext cx="3977640" cy="3959352"/>
          </a:xfrm>
          <a:prstGeom prst="roundRect">
            <a:avLst>
              <a:gd name="adj" fmla="val 1848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82128" y="193852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128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 TO MODEL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82128" y="2423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完整父块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882128" y="29077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# 9.3 麦克斯韦方程组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82128" y="33558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定义与历史背景……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45552" y="3749040"/>
            <a:ext cx="3401568" cy="822960"/>
          </a:xfrm>
          <a:prstGeom prst="roundRect">
            <a:avLst>
              <a:gd name="adj" fmla="val 4444"/>
            </a:avLst>
          </a:prstGeom>
          <a:solidFill>
            <a:srgbClr val="FFB84D">
              <a:alpha val="14000"/>
            </a:srgbClr>
          </a:solidFill>
          <a:ln w="12700">
            <a:solidFill>
              <a:srgbClr val="FFB84D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386791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∇ × E = −∂B/∂t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∇ · E = ρ/ε₀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882128" y="4910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 + 定义 + 推导上下文一起返回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产品闭环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从文件上传到可追溯回答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浏览器只负责上传与展示；解析、切片、Embedding、索引和检索全部由服务端完成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文件摄入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PPTX / TXT / Markdown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191256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87952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9312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父子块统计 · 元信息 · 删除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007608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91072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04304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推理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5664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 · 三轮反思 · 计算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823960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07424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0656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流式回答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7201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· Markdown · LaTeX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58368" y="3749040"/>
            <a:ext cx="6748272" cy="1664208"/>
          </a:xfrm>
          <a:prstGeom prst="roundRect">
            <a:avLst>
              <a:gd name="adj" fmla="val 4396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4023360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0325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SAFE TRACE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2688" y="44988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改写 1.6s  →  检索 0.85s  →  重排 0.79s  →  生成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96519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展示节点、状态、耗时、来源与错误；不暴露隐藏思维链、Prompt 或密钥。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62672" y="3749040"/>
            <a:ext cx="3877056" cy="1664208"/>
          </a:xfrm>
          <a:prstGeom prst="roundRect">
            <a:avLst>
              <a:gd name="adj" fmla="val 439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6992" y="4023360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403250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FIRST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936992" y="4480560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检索成功即展示父块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36992" y="4919472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即使生成失败，用户仍可查看命中子块高亮和教材来源。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当前成果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真实链路已贯通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以《伯克利物理学教程·电磁学》与“麦克斯韦方程组”查询进行验证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2024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1,173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68096" y="244144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完整父块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773936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92024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3,045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447288" y="244144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可检索子块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6752" y="1773936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92024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→ 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26480" y="244144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候选子块 → 去重父块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95944" y="1773936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920240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CUDA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805672" y="244144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RTX 5070 Ti / BF16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246120"/>
            <a:ext cx="7498080" cy="2011680"/>
          </a:xfrm>
          <a:prstGeom prst="roundRect">
            <a:avLst>
              <a:gd name="adj" fmla="val 3636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3547872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5570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LIVE RETRIEVAL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50976" y="4050792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82496" y="40050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麦克斯韦方程组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976" y="4553712"/>
            <a:ext cx="713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82496" y="4507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# 9.3 麦克斯韦方程组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9472" y="450799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公式块、定义与上下文完整返回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0" y="3246120"/>
            <a:ext cx="2798064" cy="2011680"/>
          </a:xfrm>
          <a:prstGeom prst="roundRect">
            <a:avLst>
              <a:gd name="adj" fmla="val 363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547872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355701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QUALITY GATE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86800" y="4023360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无伪向量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无词法假重排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模型失败即明确失败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未来工作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从“可用 MVP”走向“可评测、可扩展、可运营”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保持本地 Agent + 服务端 LightRAG 主架构不变，持续提升数据质量与检索可信度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检索质量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5256" y="3182112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建立物理 / 数学 Golden Set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905256" y="38770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 Recall@K、MRR 与失败类型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05256" y="4572000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 Grade 分数阈值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886200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5656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05656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多模态教材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33088" y="3182112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公式、表格、图像版面解析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133088" y="38770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扫描页按需 OCR / Qwen-VL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133088" y="4572000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保留坐标、provenance 与置信度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114032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33488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平台化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60920" y="3182112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异步索引任务与断点恢复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60920" y="38770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多租户 / 课程权限与密钥加密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360920" y="4572000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持久化计量、监控与成本治理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621024" y="3675888"/>
            <a:ext cx="182880" cy="0"/>
          </a:xfrm>
          <a:prstGeom prst="line">
            <a:avLst/>
          </a:prstGeom>
          <a:noFill/>
          <a:ln w="1778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48856" y="3675888"/>
            <a:ext cx="182880" cy="0"/>
          </a:xfrm>
          <a:prstGeom prst="line">
            <a:avLst/>
          </a:prstGeom>
          <a:noFill/>
          <a:ln w="1778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31552" y="1755648"/>
            <a:ext cx="1417320" cy="3886200"/>
          </a:xfrm>
          <a:prstGeom prst="roundRect">
            <a:avLst>
              <a:gd name="adj" fmla="val 5161"/>
            </a:avLst>
          </a:prstGeom>
          <a:solidFill>
            <a:srgbClr val="0D1A29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14432" y="2057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14432" y="2761488"/>
            <a:ext cx="10515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更准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更全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更稳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676656" y="5925312"/>
            <a:ext cx="10863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一条可持续演进的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RAG 教学链路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AgenticTeacher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AgenticTeacher 项目汇报</dc:title>
  <dc:subject>Agentic RAG 智能教学系统项目汇报</dc:subject>
  <dc:creator>AgenticTeacher</dc:creator>
  <cp:lastModifiedBy>AgenticTeacher</cp:lastModifiedBy>
  <cp:revision>1</cp:revision>
  <dcterms:created xsi:type="dcterms:W3CDTF">2026-09-04T05:09:09Z</dcterms:created>
  <dcterms:modified xsi:type="dcterms:W3CDTF">2026-09-04T05:09:09Z</dcterms:modified>
</cp:coreProperties>
</file>