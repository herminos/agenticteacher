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8890">
            <a:solidFill>
              <a:srgbClr val="20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809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AgenticTeacher · 本地 Agent / 服务端 RAG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7973568" y="-475488"/>
            <a:ext cx="4434840" cy="4434840"/>
          </a:xfrm>
          <a:prstGeom prst="arc">
            <a:avLst/>
          </a:prstGeom>
          <a:solidFill>
            <a:srgbClr val="35D0E5">
              <a:alpha val="0"/>
            </a:srgbClr>
          </a:solidFill>
          <a:ln w="27940">
            <a:solidFill>
              <a:srgbClr val="35D0E5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300000">
            <a:off x="8732520" y="201168"/>
            <a:ext cx="3063240" cy="3063240"/>
          </a:xfrm>
          <a:prstGeom prst="arc">
            <a:avLst/>
          </a:prstGeom>
          <a:solidFill>
            <a:srgbClr val="4C8DFF">
              <a:alpha val="0"/>
            </a:srgbClr>
          </a:solidFill>
          <a:ln w="50800">
            <a:solidFill>
              <a:srgbClr val="4C8DFF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914400"/>
            <a:ext cx="137160" cy="13716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71048" y="1618488"/>
            <a:ext cx="137160" cy="13716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50224" y="2304288"/>
            <a:ext cx="137160" cy="13716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94976" y="2944368"/>
            <a:ext cx="137160" cy="13716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93268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RAG · INTELLIGENT TUTORING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" y="1408176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AgenticTeacher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" y="230428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理工科 Agentic RAG 智能教学系统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" y="2880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本地决策 · 服务端算力 · 教材可追溯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822192"/>
            <a:ext cx="1335024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831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LangGraph.js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94560" y="3822192"/>
            <a:ext cx="1335024" cy="256032"/>
          </a:xfrm>
          <a:prstGeom prst="roundRect">
            <a:avLst>
              <a:gd name="adj" fmla="val 17857"/>
            </a:avLst>
          </a:prstGeom>
          <a:solidFill>
            <a:srgbClr val="4C8DFF">
              <a:alpha val="16000"/>
            </a:srgbClr>
          </a:solidFill>
          <a:ln w="889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3831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LightRAG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30752" y="3822192"/>
            <a:ext cx="1335024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3831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Qdrant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66944" y="3822192"/>
            <a:ext cx="1335024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944" y="383133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 / CUDA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" y="5989320"/>
            <a:ext cx="10835640" cy="0"/>
          </a:xfrm>
          <a:prstGeom prst="line">
            <a:avLst/>
          </a:prstGeom>
          <a:noFill/>
          <a:ln w="10160">
            <a:solidFill>
              <a:srgbClr val="294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6153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项目技术汇报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项目定位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让教材知识真正进入模型回答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面向微积分、线性代数、大学物理、化学与编程算法的可追溯智能答疑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4709160" cy="987552"/>
          </a:xfrm>
          <a:prstGeom prst="roundRect">
            <a:avLst>
              <a:gd name="adj" fmla="val 740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73152" cy="98755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202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资料复杂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84832" y="189280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/ PPT / Markdown 中包含公式、图表与跨页语义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3008376"/>
            <a:ext cx="4709160" cy="987552"/>
          </a:xfrm>
          <a:prstGeom prst="roundRect">
            <a:avLst>
              <a:gd name="adj" fmla="val 740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008376"/>
            <a:ext cx="73152" cy="987552"/>
          </a:xfrm>
          <a:prstGeom prst="rect">
            <a:avLst/>
          </a:prstGeom>
          <a:solidFill>
            <a:srgbClr val="FF6B7D"/>
          </a:solidFill>
          <a:ln w="12700">
            <a:solidFill>
              <a:srgbClr val="FF6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145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一次检索不够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84832" y="311810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口语问题、术语歧义和知识缺口需要动态反思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4233672"/>
            <a:ext cx="4709160" cy="987552"/>
          </a:xfrm>
          <a:prstGeom prst="roundRect">
            <a:avLst>
              <a:gd name="adj" fmla="val 740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4233672"/>
            <a:ext cx="73152" cy="987552"/>
          </a:xfrm>
          <a:prstGeom prst="rect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3708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回答必须可信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84832" y="43434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来源、过程、耗时可见；无证据时明确告知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1783080"/>
            <a:ext cx="5742432" cy="3438144"/>
          </a:xfrm>
          <a:prstGeom prst="roundRect">
            <a:avLst>
              <a:gd name="adj" fmla="val 2128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205740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20665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核心解法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71616" y="2587752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决定“下一步做什么”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 决定“依据什么回答”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080760" y="3730752"/>
            <a:ext cx="4828032" cy="0"/>
          </a:xfrm>
          <a:prstGeom prst="line">
            <a:avLst/>
          </a:prstGeom>
          <a:noFill/>
          <a:ln w="12700">
            <a:solidFill>
              <a:srgbClr val="294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4005072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浏览器运行可开源 Agent；模型推理、索引、检索与资源限制由服务端执行。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技术选型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成熟框架组合，边界清晰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决策层保持轻量开放；算力与数据能力集中在可信服务端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2788920" cy="4224528"/>
          </a:xfrm>
          <a:prstGeom prst="roundRect">
            <a:avLst>
              <a:gd name="adj" fmla="val 262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01952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04672" y="23408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前端决策层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962656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9077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Next.js 14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1014984" y="31638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 Router / UI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22960" y="3648456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35935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TypeScript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1014984" y="38496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端到端类型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22960" y="4334256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42793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LangGraph.js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1014984" y="45354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 Agent 编排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22960" y="5020056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49651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KaTeX + Markdown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1014984" y="52212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公式与富文本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3547872" y="1719072"/>
            <a:ext cx="2788920" cy="4224528"/>
          </a:xfrm>
          <a:prstGeom prst="roundRect">
            <a:avLst>
              <a:gd name="adj" fmla="val 262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0752" y="1901952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4C8DFF">
              <a:alpha val="16000"/>
            </a:srgbClr>
          </a:solidFill>
          <a:ln w="889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SERVICE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30752" y="23408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高算力服务层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49040" y="2962656"/>
            <a:ext cx="91440" cy="9144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41064" y="29077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 + Uvicorn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3941064" y="31638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版本化 API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749040" y="3648456"/>
            <a:ext cx="91440" cy="9144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1064" y="35935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PyTorch / CUDA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3941064" y="38496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RTX 5070 Ti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3749040" y="4334256"/>
            <a:ext cx="91440" cy="9144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41064" y="42793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3941064" y="45354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Embedding + Reranker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3749040" y="5020056"/>
            <a:ext cx="91440" cy="9144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41064" y="496519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Sympy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3941064" y="5221224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受控符号计算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473952" y="1719072"/>
            <a:ext cx="2331720" cy="4224528"/>
          </a:xfrm>
          <a:prstGeom prst="roundRect">
            <a:avLst>
              <a:gd name="adj" fmla="val 313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56832" y="1901952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656832" y="234086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检索存储层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675120" y="2962656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67144" y="29077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LightRAG</a:t>
            </a:r>
            <a:endParaRPr lang="en-US" sz="1130" dirty="0"/>
          </a:p>
        </p:txBody>
      </p:sp>
      <p:sp>
        <p:nvSpPr>
          <p:cNvPr id="43" name="Text 41"/>
          <p:cNvSpPr/>
          <p:nvPr/>
        </p:nvSpPr>
        <p:spPr>
          <a:xfrm>
            <a:off x="6867144" y="3163824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唯一 RAG 编排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6675120" y="3648456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67144" y="35935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Qdrant</a:t>
            </a:r>
            <a:endParaRPr lang="en-US" sz="1130" dirty="0"/>
          </a:p>
        </p:txBody>
      </p:sp>
      <p:sp>
        <p:nvSpPr>
          <p:cNvPr id="46" name="Text 44"/>
          <p:cNvSpPr/>
          <p:nvPr/>
        </p:nvSpPr>
        <p:spPr>
          <a:xfrm>
            <a:off x="6867144" y="3849624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向量后端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6675120" y="4334256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67144" y="42793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KV + Graph</a:t>
            </a:r>
            <a:endParaRPr lang="en-US" sz="1130" dirty="0"/>
          </a:p>
        </p:txBody>
      </p:sp>
      <p:sp>
        <p:nvSpPr>
          <p:cNvPr id="49" name="Text 47"/>
          <p:cNvSpPr/>
          <p:nvPr/>
        </p:nvSpPr>
        <p:spPr>
          <a:xfrm>
            <a:off x="6867144" y="4535424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状态与图谱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6675120" y="5020056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49651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Parent–Child</a:t>
            </a:r>
            <a:endParaRPr lang="en-US" sz="1130" dirty="0"/>
          </a:p>
        </p:txBody>
      </p:sp>
      <p:sp>
        <p:nvSpPr>
          <p:cNvPr id="52" name="Text 50"/>
          <p:cNvSpPr/>
          <p:nvPr/>
        </p:nvSpPr>
        <p:spPr>
          <a:xfrm>
            <a:off x="6867144" y="5221224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语义完整性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8942832" y="1719072"/>
            <a:ext cx="2606040" cy="4224528"/>
          </a:xfrm>
          <a:prstGeom prst="roundRect">
            <a:avLst>
              <a:gd name="adj" fmla="val 280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25712" y="1901952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25712" y="19110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125712" y="23408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云端模型层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144000" y="2962656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36024" y="290779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DeepSeek</a:t>
            </a:r>
            <a:endParaRPr lang="en-US" sz="1130" dirty="0"/>
          </a:p>
        </p:txBody>
      </p:sp>
      <p:sp>
        <p:nvSpPr>
          <p:cNvPr id="59" name="Text 57"/>
          <p:cNvSpPr/>
          <p:nvPr/>
        </p:nvSpPr>
        <p:spPr>
          <a:xfrm>
            <a:off x="9336024" y="31638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OpenAI-compatible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9144000" y="3648456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36024" y="359359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</a:t>
            </a:r>
            <a:endParaRPr lang="en-US" sz="1130" dirty="0"/>
          </a:p>
        </p:txBody>
      </p:sp>
      <p:sp>
        <p:nvSpPr>
          <p:cNvPr id="62" name="Text 60"/>
          <p:cNvSpPr/>
          <p:nvPr/>
        </p:nvSpPr>
        <p:spPr>
          <a:xfrm>
            <a:off x="9336024" y="38496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DashScope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9144000" y="4334256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36024" y="427939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OpenAI</a:t>
            </a:r>
            <a:endParaRPr lang="en-US" sz="1130" dirty="0"/>
          </a:p>
        </p:txBody>
      </p:sp>
      <p:sp>
        <p:nvSpPr>
          <p:cNvPr id="65" name="Text 63"/>
          <p:cNvSpPr/>
          <p:nvPr/>
        </p:nvSpPr>
        <p:spPr>
          <a:xfrm>
            <a:off x="9336024" y="45354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可插拔 Provider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9144000" y="5020056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36024" y="4965192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SSE</a:t>
            </a:r>
            <a:endParaRPr lang="en-US" sz="1130" dirty="0"/>
          </a:p>
        </p:txBody>
      </p:sp>
      <p:sp>
        <p:nvSpPr>
          <p:cNvPr id="68" name="Text 66"/>
          <p:cNvSpPr/>
          <p:nvPr/>
        </p:nvSpPr>
        <p:spPr>
          <a:xfrm>
            <a:off x="9336024" y="5221224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流式生成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总体架构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客户端决策，服务端执行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可本地开源替换；凭证、模型、RAG 数据与配额始终留在服务端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78992" y="1700784"/>
            <a:ext cx="10058400" cy="1060704"/>
          </a:xfrm>
          <a:prstGeom prst="roundRect">
            <a:avLst>
              <a:gd name="adj" fmla="val 6897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700784"/>
            <a:ext cx="82296" cy="1060704"/>
          </a:xfrm>
          <a:prstGeom prst="rect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9032" y="1865376"/>
            <a:ext cx="1481328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18745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CLIENT / BROWSER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182112" y="1837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Next.js + LangGraph.js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82112" y="2203704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 · Rewrite 调度 · 三轮循环 · Trace / Sources · Markdown / LaTeX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1078992" y="3072384"/>
            <a:ext cx="10058400" cy="1353312"/>
          </a:xfrm>
          <a:prstGeom prst="roundRect">
            <a:avLst>
              <a:gd name="adj" fmla="val 5405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3072384"/>
            <a:ext cx="82296" cy="1353312"/>
          </a:xfrm>
          <a:prstGeom prst="rect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99032" y="3236976"/>
            <a:ext cx="1353312" cy="256032"/>
          </a:xfrm>
          <a:prstGeom prst="roundRect">
            <a:avLst>
              <a:gd name="adj" fmla="val 17857"/>
            </a:avLst>
          </a:prstGeom>
          <a:solidFill>
            <a:srgbClr val="4C8DFF">
              <a:alpha val="16000"/>
            </a:srgbClr>
          </a:solidFill>
          <a:ln w="889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324612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TRUSTED SERVICE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82112" y="3209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FastAPI /v1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82112" y="3575304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Provider Adapter  ｜  LightRAG Service  ｜  Qwen3 CUDA  ｜  Sympy  ｜  Files / Index  ｜  Usage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1078992" y="475488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8992" y="4754880"/>
            <a:ext cx="82296" cy="100584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9032" y="4919472"/>
            <a:ext cx="1481328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99032" y="49286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 &amp; MODEL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82112" y="4892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持久化与外部能力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82112" y="5257800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Qdrant + KV / Graph Volumes        DeepSeek / Qwen / OpenAI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6080760" y="2770632"/>
            <a:ext cx="0" cy="274320"/>
          </a:xfrm>
          <a:prstGeom prst="line">
            <a:avLst/>
          </a:prstGeom>
          <a:noFill/>
          <a:ln w="22860">
            <a:solidFill>
              <a:srgbClr val="35D0E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80760" y="4434840"/>
            <a:ext cx="0" cy="292608"/>
          </a:xfrm>
          <a:prstGeom prst="line">
            <a:avLst/>
          </a:prstGeom>
          <a:noFill/>
          <a:ln w="22860">
            <a:solidFill>
              <a:srgbClr val="4C8DF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281928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 / SSE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81928" y="4462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 / 推理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AGENTIC RAG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不是“一次搜索”，而是受控反思循环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 Retrieve + Grade 计为一次尝试；客户端编排，服务端对最多 3 次执行硬限制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7607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意图路由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47672" y="2532888"/>
            <a:ext cx="356616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REWRITE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45059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学术化查询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22192" y="2532888"/>
            <a:ext cx="356616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RETRIEVE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32511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混合召回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96712" y="2532888"/>
            <a:ext cx="356616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RERANK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19963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 精排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2532888"/>
            <a:ext cx="356616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0100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B293D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807415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证据充分性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2532888"/>
            <a:ext cx="356616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75520" y="2057400"/>
            <a:ext cx="1417320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48672" y="22677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948672" y="254203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SSE 回答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05088" y="3035808"/>
            <a:ext cx="0" cy="1051560"/>
          </a:xfrm>
          <a:prstGeom prst="line">
            <a:avLst/>
          </a:prstGeom>
          <a:noFill/>
          <a:ln w="25400">
            <a:solidFill>
              <a:srgbClr val="FFB8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05088" y="4087368"/>
            <a:ext cx="-5605272" cy="0"/>
          </a:xfrm>
          <a:prstGeom prst="line">
            <a:avLst/>
          </a:prstGeom>
          <a:noFill/>
          <a:ln w="25400">
            <a:solidFill>
              <a:srgbClr val="FFB8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99816" y="4087368"/>
            <a:ext cx="0" cy="-1033272"/>
          </a:xfrm>
          <a:prstGeom prst="line">
            <a:avLst/>
          </a:prstGeom>
          <a:noFill/>
          <a:ln w="25400">
            <a:solidFill>
              <a:srgbClr val="FFB84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617720" y="3895344"/>
            <a:ext cx="2615184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90448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证据不足 → 带知识缺口重写查询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8368" y="4690872"/>
            <a:ext cx="2121408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48371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 3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768096" y="5358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服务端硬限制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90088" y="4690872"/>
            <a:ext cx="2121408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9816" y="48371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Top-16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3099816" y="5358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子块初始召回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21808" y="4690872"/>
            <a:ext cx="2121408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31536" y="48371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Top-4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5431536" y="5358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Reranker 最终子块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653528" y="4690872"/>
            <a:ext cx="2121408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63256" y="483717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1–4</a:t>
            </a:r>
            <a:endParaRPr lang="en-US" sz="2500" dirty="0"/>
          </a:p>
        </p:txBody>
      </p:sp>
      <p:sp>
        <p:nvSpPr>
          <p:cNvPr id="44" name="Text 42"/>
          <p:cNvSpPr/>
          <p:nvPr/>
        </p:nvSpPr>
        <p:spPr>
          <a:xfrm>
            <a:off x="7763256" y="53583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去重完整父块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985248" y="4690872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94976" y="4882896"/>
            <a:ext cx="1353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无理想证据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94976" y="52303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明确告知 + 世界知识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父子块机制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小块负责“找得准”，父块负责“讲得全”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解决公式块与定义块被切断、单独公式难以召回、上下文不完整的问题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4C8DFF">
              <a:alpha val="16000"/>
            </a:srgbClr>
          </a:solidFill>
          <a:ln w="889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7335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INDEX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2057400"/>
            <a:ext cx="2852928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58568"/>
            <a:ext cx="384048" cy="384048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16736" y="218541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教材小节 → 父块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16736" y="249631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Markdown 标题 / 段落 / 页面边界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父块上限约 8192 字符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58368" y="3246120"/>
            <a:ext cx="2852928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447288"/>
            <a:ext cx="384048" cy="384048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6736" y="337413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父块 → 子块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16736" y="368503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 512 字符；保留稳定的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child_id → parent_id 映射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58368" y="4434840"/>
            <a:ext cx="2852928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636008"/>
            <a:ext cx="384048" cy="384048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16736" y="456285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仅子块向量化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16736" y="487375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Qwen3-Embedding-0.6B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 LightRAG / Qdrant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084832" y="3017520"/>
            <a:ext cx="0" cy="201168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084832" y="4206240"/>
            <a:ext cx="0" cy="201168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13632" y="1682496"/>
            <a:ext cx="0" cy="4096512"/>
          </a:xfrm>
          <a:prstGeom prst="line">
            <a:avLst/>
          </a:prstGeom>
          <a:noFill/>
          <a:ln w="12700">
            <a:solidFill>
              <a:srgbClr val="2941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15968" y="1664208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16733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15968" y="2057400"/>
            <a:ext cx="2816352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2258568"/>
            <a:ext cx="384048" cy="38404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74336" y="218541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查询子块向量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74336" y="249631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LightRAG hybrid / naive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初始召回 Top-16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315968" y="3246120"/>
            <a:ext cx="2816352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3447288"/>
            <a:ext cx="384048" cy="384048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74336" y="337413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重排子块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74336" y="368503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Qwen3-Reranker-0.6B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固定选择前 4 个子块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4315968" y="4434840"/>
            <a:ext cx="2816352" cy="950976"/>
          </a:xfrm>
          <a:prstGeom prst="roundRect">
            <a:avLst>
              <a:gd name="adj" fmla="val 7692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62272" y="4636008"/>
            <a:ext cx="384048" cy="384048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62272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1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74336" y="456285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回溯完整父块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74336" y="487375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 parent_id 映射、去重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最终得到 1–4 个父块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724144" y="3017520"/>
            <a:ext cx="0" cy="201168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724144" y="4206240"/>
            <a:ext cx="0" cy="201168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571232" y="1664208"/>
            <a:ext cx="3977640" cy="3959352"/>
          </a:xfrm>
          <a:prstGeom prst="roundRect">
            <a:avLst>
              <a:gd name="adj" fmla="val 1848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82128" y="193852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82128" y="19476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RETURN TO MODEL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882128" y="24231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完整父块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7882128" y="290779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# 9.3 麦克斯韦方程组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82128" y="335584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定义与历史背景……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845552" y="3749040"/>
            <a:ext cx="3401568" cy="822960"/>
          </a:xfrm>
          <a:prstGeom prst="roundRect">
            <a:avLst>
              <a:gd name="adj" fmla="val 4444"/>
            </a:avLst>
          </a:prstGeom>
          <a:solidFill>
            <a:srgbClr val="FFB84D">
              <a:alpha val="14000"/>
            </a:srgbClr>
          </a:solidFill>
          <a:ln w="12700">
            <a:solidFill>
              <a:srgbClr val="FFB84D">
                <a:alpha val="7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65008" y="3867912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∇ × E = −∂B/∂t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∇ · E = ρ/ε₀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7882128" y="4910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 + 定义 + 推导上下文一起返回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产品闭环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从文件上传到可追溯回答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浏览器只负责上传与展示；解析、切片、Embedding、索引和检索全部由服务端完成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2505456" cy="1444752"/>
          </a:xfrm>
          <a:prstGeom prst="roundRect">
            <a:avLst>
              <a:gd name="adj" fmla="val 506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48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文件摄入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/ PPTX / TXT / Markdown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191256" y="2596896"/>
            <a:ext cx="210312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1874520"/>
            <a:ext cx="2505456" cy="1444752"/>
          </a:xfrm>
          <a:prstGeom prst="roundRect">
            <a:avLst>
              <a:gd name="adj" fmla="val 506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0574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87952" y="2048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索引管理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9312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父子块统计 · 元信息 · 删除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007608" y="2596896"/>
            <a:ext cx="210312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91072" y="1874520"/>
            <a:ext cx="2505456" cy="1444752"/>
          </a:xfrm>
          <a:prstGeom prst="roundRect">
            <a:avLst>
              <a:gd name="adj" fmla="val 506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20574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04304" y="2048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推理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55664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 · 三轮反思 · 计算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823960" y="2596896"/>
            <a:ext cx="210312" cy="0"/>
          </a:xfrm>
          <a:prstGeom prst="line">
            <a:avLst/>
          </a:prstGeom>
          <a:noFill/>
          <a:ln w="1651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07424" y="1874520"/>
            <a:ext cx="2505456" cy="1444752"/>
          </a:xfrm>
          <a:prstGeom prst="roundRect">
            <a:avLst>
              <a:gd name="adj" fmla="val 5063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2016" y="20574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20656" y="20482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流式回答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72016" y="25786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SSE · Markdown · LaTeX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58368" y="3749040"/>
            <a:ext cx="6748272" cy="1664208"/>
          </a:xfrm>
          <a:prstGeom prst="roundRect">
            <a:avLst>
              <a:gd name="adj" fmla="val 4396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4023360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0325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SAFE TRACE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32688" y="44988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Rewrite  →  Retrieve  →  Rerank  →  Grade  →  Generate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2688" y="496519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展示节点、状态、耗时、来源与错误；不暴露隐藏思维链、Prompt 或密钥。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62672" y="3749040"/>
            <a:ext cx="3877056" cy="1664208"/>
          </a:xfrm>
          <a:prstGeom prst="roundRect">
            <a:avLst>
              <a:gd name="adj" fmla="val 4396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36992" y="4023360"/>
            <a:ext cx="1152144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6992" y="403250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 FIRST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936992" y="4480560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检索成功即展示父块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36992" y="4919472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即使生成失败，用户仍可查看命中子块高亮和教材来源。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RTX 5070 TI 实测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秒完成教材 Index，热检索稳定在 1 秒内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单文件 1.07 MiB；6 个物理问题 × 3 次热查询；本地 Qwen3 0.6B / CUDA BF16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83664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20.27 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68096" y="240487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全链路 Index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883664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736 / 1,986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447288" y="240487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父块 / 子块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16752" y="17373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83664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0.93 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126480" y="240487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 P50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95944" y="17373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05672" y="1883664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0.98 s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805672" y="240487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 P95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163824"/>
            <a:ext cx="6748272" cy="2057400"/>
          </a:xfrm>
          <a:prstGeom prst="roundRect">
            <a:avLst>
              <a:gd name="adj" fmla="val 3556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3438144"/>
            <a:ext cx="1389888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44728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 BREAKDOWN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41832" y="392277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903.63 ms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41832" y="43159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LightRAG 检索平均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392277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848.32 ms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834640" y="431596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Qwen3 Reranker 平均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3858768"/>
            <a:ext cx="2029968" cy="530352"/>
          </a:xfrm>
          <a:prstGeom prst="roundRect">
            <a:avLst>
              <a:gd name="adj" fmla="val 6897"/>
            </a:avLst>
          </a:prstGeom>
          <a:solidFill>
            <a:srgbClr val="FFB84D">
              <a:alpha val="18000"/>
            </a:srgbClr>
          </a:solidFill>
          <a:ln w="12700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922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94%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0136" y="39227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检索耗时来自重排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946904" y="46817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当前首要性能瓶颈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62672" y="3163824"/>
            <a:ext cx="3877056" cy="2057400"/>
          </a:xfrm>
          <a:prstGeom prst="roundRect">
            <a:avLst>
              <a:gd name="adj" fmla="val 3556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36992" y="3438144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36992" y="3447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BOUNDARY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36992" y="38953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Index：解析 + 切片 + Embedding + 写入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36992" y="4389120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Query：仅 /retrieve 端点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不含 Rewrite 与云端回答生成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49651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≈ 98 子块/s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回答消融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父块让公式与推导重新连起来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道专业题 × 4 种模式；云端生成存在随机性，关键词覆盖仅作辅助观察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2450592" cy="2212848"/>
          </a:xfrm>
          <a:prstGeom prst="roundRect">
            <a:avLst>
              <a:gd name="adj" fmla="val 3306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84248"/>
            <a:ext cx="877824" cy="256032"/>
          </a:xfrm>
          <a:prstGeom prst="roundRect">
            <a:avLst>
              <a:gd name="adj" fmla="val 17857"/>
            </a:avLst>
          </a:prstGeom>
          <a:solidFill>
            <a:srgbClr val="8295AD">
              <a:alpha val="16000"/>
            </a:srgbClr>
          </a:solidFill>
          <a:ln w="8890">
            <a:solidFill>
              <a:srgbClr val="8295AD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933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 RAG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9536" y="243230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RAG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862072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世界知识完整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但无教材引用、易超长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354787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8–12 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755648"/>
            <a:ext cx="2450592" cy="2212848"/>
          </a:xfrm>
          <a:prstGeom prst="roundRect">
            <a:avLst>
              <a:gd name="adj" fmla="val 3306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2736" y="1984248"/>
            <a:ext cx="877824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19933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02736" y="243230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仅子块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02736" y="2862072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回答简洁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但公式与上下文易碎片化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02736" y="354787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9–17 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44768" y="1755648"/>
            <a:ext cx="2450592" cy="2212848"/>
          </a:xfrm>
          <a:prstGeom prst="roundRect">
            <a:avLst>
              <a:gd name="adj" fmla="val 3306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5936" y="1984248"/>
            <a:ext cx="877824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19933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45936" y="243230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父块 RAG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45936" y="2862072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符号一致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推导与教材上下文最完整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45936" y="354787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11–12 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87968" y="1755648"/>
            <a:ext cx="2450592" cy="2212848"/>
          </a:xfrm>
          <a:prstGeom prst="roundRect">
            <a:avLst>
              <a:gd name="adj" fmla="val 3306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89136" y="1984248"/>
            <a:ext cx="877824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89136" y="19933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089136" y="243230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三轮 Agentic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89136" y="2862072"/>
            <a:ext cx="2029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动态补知识面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增加调用成本，Grade 待校准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89136" y="354787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 3 轮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4315968"/>
            <a:ext cx="7040880" cy="1170432"/>
          </a:xfrm>
          <a:prstGeom prst="roundRect">
            <a:avLst>
              <a:gd name="adj" fmla="val 6250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455371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4C8DFF">
              <a:alpha val="16000"/>
            </a:srgbClr>
          </a:solidFill>
          <a:ln w="8890">
            <a:solidFill>
              <a:srgbClr val="4C8DFF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4562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8D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MAXWELL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048256" y="44988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父块完整覆盖波动方程、v = c/√κ、E₀ = vB₀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2048256" y="491032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三轮分别补齐“真空推导”与“介质关系”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55280" y="4315968"/>
            <a:ext cx="3584448" cy="1170432"/>
          </a:xfrm>
          <a:prstGeom prst="roundRect">
            <a:avLst>
              <a:gd name="adj" fmla="val 625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455371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F6B7D">
              <a:alpha val="16000"/>
            </a:srgbClr>
          </a:solidFill>
          <a:ln w="8890">
            <a:solidFill>
              <a:srgbClr val="FF6B7D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456285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ISSUES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125712" y="449884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引用约束仍不稳定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229600" y="491947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 Assess 502；部分题三轮均判不足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676656" y="5861304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 Agentic 使用云端 Assess；生产 Grade 按 PROJECT.txt 使用本地分数规则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未来工作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85216" y="66751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从“可用 MVP”走向“可评测、可扩展、可运营”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3504" y="1234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保持本地 Agent + 服务端 LightRAG 主架构不变，持续提升数据质量与检索可信度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2880360" cy="3886200"/>
          </a:xfrm>
          <a:prstGeom prst="roundRect">
            <a:avLst>
              <a:gd name="adj" fmla="val 254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99339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35D0E5">
              <a:alpha val="16000"/>
            </a:srgbClr>
          </a:solidFill>
          <a:ln w="8890">
            <a:solidFill>
              <a:srgbClr val="35D0E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025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检索质量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05256" y="3182112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7238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建立物理 / 数学 Golden Set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905256" y="3877056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6732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 Recall@K、MRR 与失败类型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05256" y="4572000"/>
            <a:ext cx="91440" cy="91440"/>
          </a:xfrm>
          <a:prstGeom prst="ellipse">
            <a:avLst/>
          </a:prstGeom>
          <a:solidFill>
            <a:srgbClr val="35D0E5"/>
          </a:solidFill>
          <a:ln w="12700">
            <a:solidFill>
              <a:srgbClr val="35D0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62272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校准 Grade 分数阈值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886200" y="1755648"/>
            <a:ext cx="2880360" cy="3886200"/>
          </a:xfrm>
          <a:prstGeom prst="roundRect">
            <a:avLst>
              <a:gd name="adj" fmla="val 2540"/>
            </a:avLst>
          </a:prstGeom>
          <a:solidFill>
            <a:srgbClr val="13253A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05656" y="199339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FB84D">
              <a:alpha val="16000"/>
            </a:srgbClr>
          </a:solidFill>
          <a:ln w="889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05656" y="20025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05656" y="24871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多模态教材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33088" y="3182112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307238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公式、表格、图像版面解析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133088" y="3877056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25112" y="376732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扫描页按需 OCR / Qwen-VL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133088" y="4572000"/>
            <a:ext cx="91440" cy="9144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4462272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保留坐标、provenance 与置信度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114032" y="1755648"/>
            <a:ext cx="2880360" cy="3886200"/>
          </a:xfrm>
          <a:prstGeom prst="roundRect">
            <a:avLst>
              <a:gd name="adj" fmla="val 2540"/>
            </a:avLst>
          </a:prstGeom>
          <a:solidFill>
            <a:srgbClr val="101D2E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33488" y="199339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54D6A0">
              <a:alpha val="16000"/>
            </a:srgbClr>
          </a:solidFill>
          <a:ln w="8890">
            <a:solidFill>
              <a:srgbClr val="54D6A0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3488" y="20025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4D6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SCALE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33488" y="248716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平台化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60920" y="3182112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2944" y="3072384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异步索引任务与断点恢复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360920" y="3877056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2944" y="376732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多租户 / 课程权限与密钥加密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360920" y="4572000"/>
            <a:ext cx="91440" cy="91440"/>
          </a:xfrm>
          <a:prstGeom prst="ellipse">
            <a:avLst/>
          </a:prstGeom>
          <a:solidFill>
            <a:srgbClr val="54D6A0"/>
          </a:solidFill>
          <a:ln w="12700">
            <a:solidFill>
              <a:srgbClr val="54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4462272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AD7E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持久化计量、监控与成本治理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3621024" y="3675888"/>
            <a:ext cx="182880" cy="0"/>
          </a:xfrm>
          <a:prstGeom prst="line">
            <a:avLst/>
          </a:prstGeom>
          <a:noFill/>
          <a:ln w="1778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48856" y="3675888"/>
            <a:ext cx="182880" cy="0"/>
          </a:xfrm>
          <a:prstGeom prst="line">
            <a:avLst/>
          </a:prstGeom>
          <a:noFill/>
          <a:ln w="17780">
            <a:solidFill>
              <a:srgbClr val="29415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31552" y="1755648"/>
            <a:ext cx="1417320" cy="3886200"/>
          </a:xfrm>
          <a:prstGeom prst="roundRect">
            <a:avLst>
              <a:gd name="adj" fmla="val 5161"/>
            </a:avLst>
          </a:prstGeom>
          <a:solidFill>
            <a:srgbClr val="0D1A29"/>
          </a:solidFill>
          <a:ln w="10160">
            <a:solidFill>
              <a:srgbClr val="2941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14432" y="20574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295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314432" y="2761488"/>
            <a:ext cx="10515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更准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更全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35D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更稳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676656" y="5925312"/>
            <a:ext cx="10863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一条可持续演进的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F8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RAG 教学链路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809D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AgenticTeacher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AgenticTeacher 项目汇报</dc:title>
  <dc:subject>Agentic RAG 智能教学系统项目汇报</dc:subject>
  <dc:creator>AgenticTeacher</dc:creator>
  <cp:lastModifiedBy>AgenticTeacher</cp:lastModifiedBy>
  <cp:revision>1</cp:revision>
  <dcterms:created xsi:type="dcterms:W3CDTF">2026-09-04T06:06:54Z</dcterms:created>
  <dcterms:modified xsi:type="dcterms:W3CDTF">2026-09-04T06:06:54Z</dcterms:modified>
</cp:coreProperties>
</file>